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82" y="1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98AA44-6895-9AB7-0B34-51B59C480B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b="1" dirty="0"/>
              <a:t>Wypływ metod czyszczenia danych na jakość klasyfikatorów</a:t>
            </a:r>
            <a:r>
              <a:rPr lang="pl-PL" dirty="0"/>
              <a:t> 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E7144F1-6EE8-2D6D-600A-F1F62EAF3B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Dominik Machnik</a:t>
            </a:r>
          </a:p>
          <a:p>
            <a:endParaRPr lang="pl-PL" dirty="0"/>
          </a:p>
          <a:p>
            <a:pPr algn="r"/>
            <a:r>
              <a:rPr lang="pl-PL" sz="1200" dirty="0"/>
              <a:t>Rzeszów 22.01.2026</a:t>
            </a:r>
          </a:p>
        </p:txBody>
      </p:sp>
    </p:spTree>
    <p:extLst>
      <p:ext uri="{BB962C8B-B14F-4D97-AF65-F5344CB8AC3E}">
        <p14:creationId xmlns:p14="http://schemas.microsoft.com/office/powerpoint/2010/main" val="3068893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7BDFC5-5679-08A4-B938-36D553B3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7438DA-EC0F-0D58-33AC-E1490A090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/>
              <a:t>Celem pracy jest zbadanie, w jaki sposób różne metody czyszczenia danych wpływają na jakość modeli klasyfikacyjnych stosowanych w uczeniu maszynowym. W ramach pracy zostaną przeanalizowane różne metody czyszczenia danych (np. usuwanie wartości odstających, uzupełnianie braków danych, normalizacja atrybutów), a następnie porównana zostanie ich skuteczność w kontekście wybranych algorytmów klasyfikacyjnych. Opracowane eksperymenty pozwolą ocenić, w jakim stopniu jakość danych wejściowych wpływa na końcowe wyniki klasyfikacji. </a:t>
            </a:r>
          </a:p>
        </p:txBody>
      </p:sp>
    </p:spTree>
    <p:extLst>
      <p:ext uri="{BB962C8B-B14F-4D97-AF65-F5344CB8AC3E}">
        <p14:creationId xmlns:p14="http://schemas.microsoft.com/office/powerpoint/2010/main" val="4091990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5ADC70-B31C-37CF-5518-B4F4FB4C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17729"/>
            <a:ext cx="9905998" cy="993713"/>
          </a:xfrm>
        </p:spPr>
        <p:txBody>
          <a:bodyPr/>
          <a:lstStyle/>
          <a:p>
            <a:r>
              <a:rPr lang="pl-PL" dirty="0"/>
              <a:t>Wykorzystane zbiory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6E1BA2-3100-C4E0-3787-253F355B0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3391" y="1663052"/>
            <a:ext cx="3214020" cy="4410683"/>
          </a:xfrm>
        </p:spPr>
        <p:txBody>
          <a:bodyPr/>
          <a:lstStyle/>
          <a:p>
            <a:pPr marL="0" indent="0">
              <a:buNone/>
            </a:pPr>
            <a:r>
              <a:rPr lang="pl-PL" dirty="0" err="1"/>
              <a:t>Heart</a:t>
            </a:r>
            <a:r>
              <a:rPr lang="pl-PL" dirty="0"/>
              <a:t> </a:t>
            </a:r>
            <a:r>
              <a:rPr lang="pl-PL" dirty="0" err="1"/>
              <a:t>Disease</a:t>
            </a:r>
            <a:r>
              <a:rPr lang="pl-PL" dirty="0"/>
              <a:t>:</a:t>
            </a:r>
          </a:p>
          <a:p>
            <a:r>
              <a:rPr lang="pl-PL" b="1" dirty="0"/>
              <a:t>Wymiary:</a:t>
            </a:r>
            <a:br>
              <a:rPr lang="pl-PL" b="1" dirty="0"/>
            </a:br>
            <a:r>
              <a:rPr lang="pl-PL" dirty="0"/>
              <a:t>270 wierszy,</a:t>
            </a:r>
            <a:br>
              <a:rPr lang="pl-PL" dirty="0"/>
            </a:br>
            <a:r>
              <a:rPr lang="pl-PL" dirty="0"/>
              <a:t>14 kolumn.</a:t>
            </a:r>
          </a:p>
          <a:p>
            <a:r>
              <a:rPr lang="pl-PL" b="1" dirty="0"/>
              <a:t>Kolumna decyzyjna:</a:t>
            </a:r>
            <a:r>
              <a:rPr lang="pl-PL" dirty="0"/>
              <a:t> diagnoza – numeryczna (1 lub 2)</a:t>
            </a:r>
            <a:br>
              <a:rPr lang="pl-PL" dirty="0"/>
            </a:br>
            <a:r>
              <a:rPr lang="pl-PL" dirty="0"/>
              <a:t>Mapujemy to jako</a:t>
            </a:r>
            <a:br>
              <a:rPr lang="pl-PL" dirty="0"/>
            </a:br>
            <a:r>
              <a:rPr lang="pl-PL" dirty="0"/>
              <a:t>1 -&gt; 0 i 2 -&gt; 1.</a:t>
            </a:r>
          </a:p>
        </p:txBody>
      </p:sp>
      <p:sp>
        <p:nvSpPr>
          <p:cNvPr id="6" name="Symbol zastępczy zawartości 2">
            <a:extLst>
              <a:ext uri="{FF2B5EF4-FFF2-40B4-BE49-F238E27FC236}">
                <a16:creationId xmlns:a16="http://schemas.microsoft.com/office/drawing/2014/main" id="{9704AAFF-674D-B805-7DD5-5C80AE118F05}"/>
              </a:ext>
            </a:extLst>
          </p:cNvPr>
          <p:cNvSpPr txBox="1">
            <a:spLocks/>
          </p:cNvSpPr>
          <p:nvPr/>
        </p:nvSpPr>
        <p:spPr>
          <a:xfrm>
            <a:off x="1141413" y="1663053"/>
            <a:ext cx="3214020" cy="4420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b="1" dirty="0"/>
              <a:t>Zapalenie naczyń:</a:t>
            </a:r>
          </a:p>
          <a:p>
            <a:r>
              <a:rPr lang="pl-PL" b="1" dirty="0"/>
              <a:t>Wymiary:</a:t>
            </a:r>
            <a:br>
              <a:rPr lang="pl-PL" b="1" dirty="0"/>
            </a:br>
            <a:r>
              <a:rPr lang="pl-PL" dirty="0"/>
              <a:t>848 wierszy,</a:t>
            </a:r>
            <a:br>
              <a:rPr lang="pl-PL" dirty="0"/>
            </a:br>
            <a:r>
              <a:rPr lang="pl-PL" dirty="0"/>
              <a:t>144 kolumny.</a:t>
            </a:r>
          </a:p>
          <a:p>
            <a:r>
              <a:rPr lang="pl-PL" b="1" dirty="0"/>
              <a:t>Kolumna decyzyjna:</a:t>
            </a:r>
            <a:r>
              <a:rPr lang="pl-PL" dirty="0"/>
              <a:t> Zgon - postać binarna, numeryczna (0 lub 1).</a:t>
            </a:r>
            <a:br>
              <a:rPr lang="pl-PL" dirty="0"/>
            </a:br>
            <a:r>
              <a:rPr lang="pl-PL" dirty="0"/>
              <a:t>0 = Przeżycie,</a:t>
            </a:r>
            <a:br>
              <a:rPr lang="pl-PL" dirty="0"/>
            </a:br>
            <a:r>
              <a:rPr lang="pl-PL" dirty="0"/>
              <a:t>1 = Zgon.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  <p:sp>
        <p:nvSpPr>
          <p:cNvPr id="8" name="Symbol zastępczy zawartości 2">
            <a:extLst>
              <a:ext uri="{FF2B5EF4-FFF2-40B4-BE49-F238E27FC236}">
                <a16:creationId xmlns:a16="http://schemas.microsoft.com/office/drawing/2014/main" id="{B3CB7F92-8D1A-13DD-A12C-3BE7DA0931C0}"/>
              </a:ext>
            </a:extLst>
          </p:cNvPr>
          <p:cNvSpPr txBox="1">
            <a:spLocks/>
          </p:cNvSpPr>
          <p:nvPr/>
        </p:nvSpPr>
        <p:spPr>
          <a:xfrm>
            <a:off x="4487402" y="1663052"/>
            <a:ext cx="3214020" cy="44106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dirty="0" err="1"/>
              <a:t>Diabetes</a:t>
            </a:r>
            <a:r>
              <a:rPr lang="pl-PL" dirty="0"/>
              <a:t>:</a:t>
            </a:r>
          </a:p>
          <a:p>
            <a:r>
              <a:rPr lang="pl-PL" b="1" dirty="0"/>
              <a:t>Wymiary:</a:t>
            </a:r>
            <a:br>
              <a:rPr lang="pl-PL" b="1" dirty="0"/>
            </a:br>
            <a:r>
              <a:rPr lang="pl-PL" dirty="0"/>
              <a:t>768 wierszy,</a:t>
            </a:r>
            <a:br>
              <a:rPr lang="pl-PL" dirty="0"/>
            </a:br>
            <a:r>
              <a:rPr lang="pl-PL" dirty="0"/>
              <a:t>9 kolumn.</a:t>
            </a:r>
          </a:p>
          <a:p>
            <a:r>
              <a:rPr lang="pl-PL" b="1" dirty="0"/>
              <a:t>Kolumna decyzyjna:</a:t>
            </a:r>
            <a:r>
              <a:rPr lang="pl-PL" dirty="0"/>
              <a:t> </a:t>
            </a:r>
            <a:r>
              <a:rPr lang="pl-PL" dirty="0" err="1"/>
              <a:t>decision</a:t>
            </a:r>
            <a:r>
              <a:rPr lang="pl-PL" dirty="0"/>
              <a:t> – postać tekstowa</a:t>
            </a:r>
            <a:br>
              <a:rPr lang="pl-PL" dirty="0"/>
            </a:br>
            <a:r>
              <a:rPr lang="pl-PL" dirty="0"/>
              <a:t>(</a:t>
            </a:r>
            <a:r>
              <a:rPr lang="pl-PL" dirty="0" err="1"/>
              <a:t>tested_negative</a:t>
            </a:r>
            <a:r>
              <a:rPr lang="pl-PL" dirty="0"/>
              <a:t>, </a:t>
            </a:r>
            <a:r>
              <a:rPr lang="pl-PL" dirty="0" err="1"/>
              <a:t>tested_positive</a:t>
            </a:r>
            <a:r>
              <a:rPr lang="pl-PL" dirty="0"/>
              <a:t>)</a:t>
            </a:r>
            <a:br>
              <a:rPr lang="pl-PL" dirty="0"/>
            </a:br>
            <a:r>
              <a:rPr lang="pl-PL" dirty="0"/>
              <a:t>Wymaga mapowania na liczby przed użyciem w modelach (np. </a:t>
            </a:r>
            <a:r>
              <a:rPr lang="pl-PL" dirty="0" err="1"/>
              <a:t>negative</a:t>
            </a:r>
            <a:r>
              <a:rPr lang="pl-PL" dirty="0"/>
              <a:t> -&gt; 0, </a:t>
            </a:r>
            <a:r>
              <a:rPr lang="pl-PL" dirty="0" err="1"/>
              <a:t>positive</a:t>
            </a:r>
            <a:r>
              <a:rPr lang="pl-PL" dirty="0"/>
              <a:t> -&gt; 1).</a:t>
            </a:r>
          </a:p>
        </p:txBody>
      </p:sp>
    </p:spTree>
    <p:extLst>
      <p:ext uri="{BB962C8B-B14F-4D97-AF65-F5344CB8AC3E}">
        <p14:creationId xmlns:p14="http://schemas.microsoft.com/office/powerpoint/2010/main" val="352565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1D0CF5-573B-1B1A-7A35-0BCC75FE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Symulacja błędów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1B72D0-E3FD-E295-D7F7-7BB3796B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478570"/>
          </a:xfrm>
        </p:spPr>
        <p:txBody>
          <a:bodyPr>
            <a:normAutofit/>
          </a:bodyPr>
          <a:lstStyle/>
          <a:p>
            <a:r>
              <a:rPr lang="pl-PL" sz="2000" dirty="0"/>
              <a:t>Aby zapewnić obiektywne warunki testowe, nie polegano na przypadkowych błędach. Czyste zbiory danych zostały poddane kontrolowanej degradacji w trzech poziomach nasilenia: </a:t>
            </a:r>
            <a:r>
              <a:rPr lang="pl-PL" sz="2000" b="1" dirty="0"/>
              <a:t>15%, 25% oraz 50%</a:t>
            </a:r>
            <a:r>
              <a:rPr lang="pl-PL" sz="2000" dirty="0"/>
              <a:t>.</a:t>
            </a:r>
          </a:p>
        </p:txBody>
      </p:sp>
      <p:sp>
        <p:nvSpPr>
          <p:cNvPr id="5" name="Symbol zastępczy zawartości 2">
            <a:extLst>
              <a:ext uri="{FF2B5EF4-FFF2-40B4-BE49-F238E27FC236}">
                <a16:creationId xmlns:a16="http://schemas.microsoft.com/office/drawing/2014/main" id="{57928692-2EBE-33BB-0C3E-9DE48427C754}"/>
              </a:ext>
            </a:extLst>
          </p:cNvPr>
          <p:cNvSpPr txBox="1">
            <a:spLocks/>
          </p:cNvSpPr>
          <p:nvPr/>
        </p:nvSpPr>
        <p:spPr>
          <a:xfrm>
            <a:off x="1141411" y="3728056"/>
            <a:ext cx="9905999" cy="2511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b="1" dirty="0"/>
              <a:t>Typy wprowadzonych uszkodzeń:</a:t>
            </a:r>
            <a:endParaRPr lang="pl-PL" dirty="0"/>
          </a:p>
          <a:p>
            <a:r>
              <a:rPr lang="pl-PL" b="1" dirty="0"/>
              <a:t>Braki Danych (</a:t>
            </a:r>
            <a:r>
              <a:rPr lang="pl-PL" b="1" dirty="0" err="1"/>
              <a:t>NaN</a:t>
            </a:r>
            <a:r>
              <a:rPr lang="pl-PL" b="1" dirty="0"/>
              <a:t>):</a:t>
            </a:r>
            <a:r>
              <a:rPr lang="pl-PL" dirty="0"/>
              <a:t> Losowe usuwanie wartości, symulujące niekompletne rekordy medyczne.</a:t>
            </a:r>
          </a:p>
          <a:p>
            <a:r>
              <a:rPr lang="pl-PL" b="1" dirty="0"/>
              <a:t>Ekstremalne Wartości Odstające (</a:t>
            </a:r>
            <a:r>
              <a:rPr lang="pl-PL" b="1" dirty="0" err="1"/>
              <a:t>Outliery</a:t>
            </a:r>
            <a:r>
              <a:rPr lang="pl-PL" b="1" dirty="0"/>
              <a:t>):</a:t>
            </a:r>
            <a:r>
              <a:rPr lang="pl-PL" dirty="0"/>
              <a:t> Mnożenie losowych wartości zmiennych ciągłych przez 100 lub 1000.</a:t>
            </a:r>
          </a:p>
          <a:p>
            <a:r>
              <a:rPr lang="pl-PL" b="1" dirty="0"/>
              <a:t>Szum Kategorialny:</a:t>
            </a:r>
            <a:r>
              <a:rPr lang="pl-PL" dirty="0"/>
              <a:t> Wprowadzanie wartości spoza domeny (np. wartość '9' w polach binarnych 0/1).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0887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5CB107-1E3E-946D-B15D-EC23FE54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Metody Naprawcze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F91C161-B0BD-9FE4-3025-3BDE429B9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00571"/>
            <a:ext cx="9905999" cy="626061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W badaniu przeanalizowano 7 różnych wariantów przygotowania danych:</a:t>
            </a:r>
          </a:p>
        </p:txBody>
      </p:sp>
      <p:sp>
        <p:nvSpPr>
          <p:cNvPr id="4" name="Symbol zastępczy zawartości 2">
            <a:extLst>
              <a:ext uri="{FF2B5EF4-FFF2-40B4-BE49-F238E27FC236}">
                <a16:creationId xmlns:a16="http://schemas.microsoft.com/office/drawing/2014/main" id="{33F38FCA-F9E3-75E1-F20E-006448DC0C11}"/>
              </a:ext>
            </a:extLst>
          </p:cNvPr>
          <p:cNvSpPr txBox="1">
            <a:spLocks/>
          </p:cNvSpPr>
          <p:nvPr/>
        </p:nvSpPr>
        <p:spPr>
          <a:xfrm>
            <a:off x="1141411" y="2526632"/>
            <a:ext cx="9905999" cy="3597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_</a:t>
            </a:r>
            <a:r>
              <a:rPr lang="pl-PL" dirty="0" err="1"/>
              <a:t>raw</a:t>
            </a:r>
            <a:r>
              <a:rPr lang="pl-PL" dirty="0"/>
              <a:t>: Brak naprawy (dane surowe z błędami technicznymi -999).</a:t>
            </a:r>
          </a:p>
          <a:p>
            <a:r>
              <a:rPr lang="pl-PL" dirty="0"/>
              <a:t>_1_norm: Wyłączna normalizacja (Min-Max).</a:t>
            </a:r>
          </a:p>
          <a:p>
            <a:r>
              <a:rPr lang="pl-PL" dirty="0"/>
              <a:t>_2_fill: Wyłączna imputacja braków (Mediana).</a:t>
            </a:r>
          </a:p>
          <a:p>
            <a:r>
              <a:rPr lang="pl-PL" dirty="0"/>
              <a:t>_3_remove: Wyłączne usuwanie </a:t>
            </a:r>
            <a:r>
              <a:rPr lang="pl-PL" dirty="0" err="1"/>
              <a:t>outlierów</a:t>
            </a:r>
            <a:r>
              <a:rPr lang="pl-PL" dirty="0"/>
              <a:t>.</a:t>
            </a:r>
          </a:p>
          <a:p>
            <a:r>
              <a:rPr lang="pl-PL" dirty="0"/>
              <a:t>_4_remove_fill: Usuwanie </a:t>
            </a:r>
            <a:r>
              <a:rPr lang="pl-PL" dirty="0" err="1"/>
              <a:t>Outlierów</a:t>
            </a:r>
            <a:r>
              <a:rPr lang="pl-PL" dirty="0"/>
              <a:t> + Imputacja braków.</a:t>
            </a:r>
          </a:p>
          <a:p>
            <a:r>
              <a:rPr lang="pl-PL" dirty="0"/>
              <a:t>_5_remove_norm: Usuwanie </a:t>
            </a:r>
            <a:r>
              <a:rPr lang="pl-PL" dirty="0" err="1"/>
              <a:t>Outlierów</a:t>
            </a:r>
            <a:r>
              <a:rPr lang="pl-PL" dirty="0"/>
              <a:t> + Normalizacja.</a:t>
            </a:r>
          </a:p>
          <a:p>
            <a:r>
              <a:rPr lang="pl-PL" dirty="0"/>
              <a:t>_6_fill_norm: Imputacja + Normalizacja.</a:t>
            </a:r>
          </a:p>
          <a:p>
            <a:r>
              <a:rPr lang="pl-PL" dirty="0"/>
              <a:t>_7_all: Usuwanie </a:t>
            </a:r>
            <a:r>
              <a:rPr lang="pl-PL" dirty="0" err="1"/>
              <a:t>Outlierów</a:t>
            </a:r>
            <a:r>
              <a:rPr lang="pl-PL" dirty="0"/>
              <a:t> + Imputacja + Normalizacja.</a:t>
            </a:r>
          </a:p>
        </p:txBody>
      </p:sp>
    </p:spTree>
    <p:extLst>
      <p:ext uri="{BB962C8B-B14F-4D97-AF65-F5344CB8AC3E}">
        <p14:creationId xmlns:p14="http://schemas.microsoft.com/office/powerpoint/2010/main" val="3022312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015D1E-D7BE-78E3-B5FD-758C2808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Przegląd Algorytmów Klasyfikacji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7D04670-AF58-1838-55F4-264589719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08856"/>
            <a:ext cx="9905999" cy="1047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Wybrano cztery modele reprezentujące różne rodziny matematyczne, aby sprawdzić ich wrażliwość na jakość danych:</a:t>
            </a:r>
          </a:p>
        </p:txBody>
      </p:sp>
      <p:sp>
        <p:nvSpPr>
          <p:cNvPr id="6" name="Symbol zastępczy zawartości 2">
            <a:extLst>
              <a:ext uri="{FF2B5EF4-FFF2-40B4-BE49-F238E27FC236}">
                <a16:creationId xmlns:a16="http://schemas.microsoft.com/office/drawing/2014/main" id="{A724D78F-C5B3-B972-9954-8FDC3BE40724}"/>
              </a:ext>
            </a:extLst>
          </p:cNvPr>
          <p:cNvSpPr txBox="1">
            <a:spLocks/>
          </p:cNvSpPr>
          <p:nvPr/>
        </p:nvSpPr>
        <p:spPr>
          <a:xfrm>
            <a:off x="1141411" y="3056021"/>
            <a:ext cx="9905999" cy="3183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pl-PL" altLang="pl-PL" b="1" dirty="0" err="1">
                <a:latin typeface="+mj-lt"/>
              </a:rPr>
              <a:t>Random</a:t>
            </a:r>
            <a:r>
              <a:rPr lang="pl-PL" altLang="pl-PL" b="1" dirty="0">
                <a:latin typeface="+mj-lt"/>
              </a:rPr>
              <a:t> </a:t>
            </a:r>
            <a:r>
              <a:rPr lang="pl-PL" altLang="pl-PL" b="1" dirty="0" err="1">
                <a:latin typeface="+mj-lt"/>
              </a:rPr>
              <a:t>Forest</a:t>
            </a:r>
            <a:r>
              <a:rPr lang="pl-PL" altLang="pl-PL" b="1" dirty="0">
                <a:latin typeface="+mj-lt"/>
              </a:rPr>
              <a:t> (RF):</a:t>
            </a:r>
            <a:r>
              <a:rPr lang="pl-PL" altLang="pl-PL" dirty="0">
                <a:latin typeface="+mj-lt"/>
              </a:rPr>
              <a:t> Zespół drzew decyzyjnych. Teoretycznie odporny na brak skalowania i wartości odstające.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pl-PL" altLang="pl-PL" b="1" dirty="0" err="1">
                <a:latin typeface="+mj-lt"/>
              </a:rPr>
              <a:t>XGBoost</a:t>
            </a:r>
            <a:r>
              <a:rPr lang="pl-PL" altLang="pl-PL" b="1" dirty="0">
                <a:latin typeface="+mj-lt"/>
              </a:rPr>
              <a:t> (XGB):</a:t>
            </a:r>
            <a:r>
              <a:rPr lang="pl-PL" altLang="pl-PL" dirty="0">
                <a:latin typeface="+mj-lt"/>
              </a:rPr>
              <a:t> Algorytm typu Gradient </a:t>
            </a:r>
            <a:r>
              <a:rPr lang="pl-PL" altLang="pl-PL" dirty="0" err="1">
                <a:latin typeface="+mj-lt"/>
              </a:rPr>
              <a:t>Boosting</a:t>
            </a:r>
            <a:r>
              <a:rPr lang="pl-PL" altLang="pl-PL" dirty="0">
                <a:latin typeface="+mj-lt"/>
              </a:rPr>
              <a:t>. Znany z wysokiej skuteczności i odporności na braki danych.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pl-PL" altLang="pl-PL" b="1" dirty="0" err="1">
                <a:latin typeface="+mj-lt"/>
              </a:rPr>
              <a:t>Naive</a:t>
            </a:r>
            <a:r>
              <a:rPr lang="pl-PL" altLang="pl-PL" b="1" dirty="0">
                <a:latin typeface="+mj-lt"/>
              </a:rPr>
              <a:t> Bayes (NB):</a:t>
            </a:r>
            <a:r>
              <a:rPr lang="pl-PL" altLang="pl-PL" dirty="0">
                <a:latin typeface="+mj-lt"/>
              </a:rPr>
              <a:t> Model probabilistyczny oparty na rozkładzie Gaussa. Bardzo wrażliwy na </a:t>
            </a:r>
            <a:r>
              <a:rPr lang="pl-PL" altLang="pl-PL" dirty="0" err="1">
                <a:latin typeface="+mj-lt"/>
              </a:rPr>
              <a:t>outliery</a:t>
            </a:r>
            <a:r>
              <a:rPr lang="pl-PL" altLang="pl-PL" dirty="0">
                <a:latin typeface="+mj-lt"/>
              </a:rPr>
              <a:t>, które zaburzają średnią i wariancję.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pl-PL" altLang="pl-PL" b="1" dirty="0">
                <a:latin typeface="+mj-lt"/>
              </a:rPr>
              <a:t>Sieć Neuronowa (MLP):</a:t>
            </a:r>
            <a:r>
              <a:rPr lang="pl-PL" altLang="pl-PL" dirty="0">
                <a:latin typeface="+mj-lt"/>
              </a:rPr>
              <a:t> Wielowarstwowy Perceptron. Wymaga danych znormalizowanych do przedziału 0-1.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04967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1D6B9E-A0F8-8885-8DEB-A3A5AFAE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AUC dla Zbioru zapalenia naczyń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F13DD69-6499-248B-AF55-12F511936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3460" y="2193340"/>
            <a:ext cx="12215460" cy="3633875"/>
          </a:xfrm>
        </p:spPr>
      </p:pic>
    </p:spTree>
    <p:extLst>
      <p:ext uri="{BB962C8B-B14F-4D97-AF65-F5344CB8AC3E}">
        <p14:creationId xmlns:p14="http://schemas.microsoft.com/office/powerpoint/2010/main" val="706364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B94EFB-F08A-A74B-40D6-E788F74F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AUC dla Zbioru Serce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584EFCF4-B2B3-7848-E9F2-E8E5B6C8C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712" y="2213811"/>
            <a:ext cx="12173878" cy="3621505"/>
          </a:xfrm>
        </p:spPr>
      </p:pic>
    </p:spTree>
    <p:extLst>
      <p:ext uri="{BB962C8B-B14F-4D97-AF65-F5344CB8AC3E}">
        <p14:creationId xmlns:p14="http://schemas.microsoft.com/office/powerpoint/2010/main" val="53052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6901CD-84B3-9446-4733-B5E80084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AUC dla Zbioru </a:t>
            </a:r>
            <a:r>
              <a:rPr lang="pl-PL" dirty="0" err="1"/>
              <a:t>Diabetes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EDE556D-BE10-F49C-BEC6-FFC58C7E9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07368"/>
            <a:ext cx="12195534" cy="3627947"/>
          </a:xfrm>
        </p:spPr>
      </p:pic>
    </p:spTree>
    <p:extLst>
      <p:ext uri="{BB962C8B-B14F-4D97-AF65-F5344CB8AC3E}">
        <p14:creationId xmlns:p14="http://schemas.microsoft.com/office/powerpoint/2010/main" val="1321270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258F73-F57E-D1A7-D900-3EFFC016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pl-PL" dirty="0"/>
              <a:t>Globalna Stabilność Modeli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67DEEC9-7549-F371-93FD-8552B5A37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9758" y="2417929"/>
            <a:ext cx="6442719" cy="3982871"/>
          </a:xfr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1E4FBF9E-C916-B37F-0A7C-750AD0B201F1}"/>
              </a:ext>
            </a:extLst>
          </p:cNvPr>
          <p:cNvSpPr txBox="1"/>
          <p:nvPr/>
        </p:nvSpPr>
        <p:spPr>
          <a:xfrm>
            <a:off x="5379758" y="1478570"/>
            <a:ext cx="6442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/>
              <a:t>Wykres pudełkowy przedstawia rozkład wyników AUC dla wszystkich zbiorów i poziomów uszkodzeń.</a:t>
            </a:r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7EAF827-4A33-88EF-18FF-48C779F8EC37}"/>
              </a:ext>
            </a:extLst>
          </p:cNvPr>
          <p:cNvSpPr txBox="1"/>
          <p:nvPr/>
        </p:nvSpPr>
        <p:spPr>
          <a:xfrm>
            <a:off x="1033128" y="2417929"/>
            <a:ext cx="40441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Modele </a:t>
            </a:r>
            <a:r>
              <a:rPr lang="pl-PL" b="1" dirty="0"/>
              <a:t>RF</a:t>
            </a:r>
            <a:r>
              <a:rPr lang="pl-PL" dirty="0"/>
              <a:t> i </a:t>
            </a:r>
            <a:r>
              <a:rPr lang="pl-PL" b="1" dirty="0" err="1"/>
              <a:t>XGBoost</a:t>
            </a:r>
            <a:r>
              <a:rPr lang="pl-PL" dirty="0"/>
              <a:t> wykazują bardzo wąski rozstęp </a:t>
            </a:r>
            <a:r>
              <a:rPr lang="pl-PL" dirty="0" err="1"/>
              <a:t>międzykwartylowy</a:t>
            </a:r>
            <a:r>
              <a:rPr lang="pl-PL" dirty="0"/>
              <a:t>. Oznacza to, że działają skutecznie niemal niezależnie od tego, czy dane są czyste, czy zepsute.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Modele Wrażliwe:</a:t>
            </a:r>
            <a:r>
              <a:rPr lang="pl-PL" dirty="0"/>
              <a:t> </a:t>
            </a:r>
            <a:r>
              <a:rPr lang="pl-PL" b="1" dirty="0"/>
              <a:t>MLP</a:t>
            </a:r>
            <a:r>
              <a:rPr lang="pl-PL" dirty="0"/>
              <a:t> i </a:t>
            </a:r>
            <a:r>
              <a:rPr lang="pl-PL" b="1" dirty="0"/>
              <a:t>NB</a:t>
            </a:r>
            <a:r>
              <a:rPr lang="pl-PL" dirty="0"/>
              <a:t> charakteryzują się ogromną zmiennością. Ich "wąsy" sięgają bardzo nisko (AUC ~0.5), co oznacza, że przy niewłaściwej metodzie </a:t>
            </a:r>
            <a:r>
              <a:rPr lang="pl-PL" dirty="0" err="1"/>
              <a:t>czysczenia</a:t>
            </a:r>
            <a:r>
              <a:rPr lang="pl-PL" dirty="0"/>
              <a:t> lub jej braku działają niewłaściwie.</a:t>
            </a:r>
          </a:p>
        </p:txBody>
      </p:sp>
    </p:spTree>
    <p:extLst>
      <p:ext uri="{BB962C8B-B14F-4D97-AF65-F5344CB8AC3E}">
        <p14:creationId xmlns:p14="http://schemas.microsoft.com/office/powerpoint/2010/main" val="2350631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36DEC8-F5D4-7F00-B2C6-399AB342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Pozytywny wpływ czyszczenia danych na Sieć neuronową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B01EFC7-1909-DF92-B2FB-5A717DF99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1493" y="2217404"/>
            <a:ext cx="6860507" cy="3383088"/>
          </a:xfr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4CA8AADC-D283-349C-5450-F5563FEDAD5A}"/>
              </a:ext>
            </a:extLst>
          </p:cNvPr>
          <p:cNvSpPr txBox="1"/>
          <p:nvPr/>
        </p:nvSpPr>
        <p:spPr>
          <a:xfrm>
            <a:off x="457200" y="2097088"/>
            <a:ext cx="48742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Szczegółowa analiza (Na przykładzie zbioru </a:t>
            </a:r>
            <a:r>
              <a:rPr lang="pl-PL" b="1" dirty="0" err="1"/>
              <a:t>Diabetes</a:t>
            </a:r>
            <a:r>
              <a:rPr lang="pl-PL" b="1" dirty="0"/>
              <a:t>, 50% uszkodzeń):</a:t>
            </a:r>
            <a:r>
              <a:rPr lang="pl-PL" dirty="0"/>
              <a:t> Ten wykres idealnie ilustruje kluczowy wniosek pracy: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Metoda _1_norm (3. słupek):</a:t>
            </a:r>
            <a:r>
              <a:rPr lang="pl-PL" dirty="0"/>
              <a:t> Sama normalizacja przy obecności </a:t>
            </a:r>
            <a:r>
              <a:rPr lang="pl-PL" dirty="0" err="1"/>
              <a:t>outlierów</a:t>
            </a:r>
            <a:r>
              <a:rPr lang="pl-PL" dirty="0"/>
              <a:t>  powoduje, że </a:t>
            </a:r>
            <a:r>
              <a:rPr lang="pl-PL" b="1" dirty="0"/>
              <a:t>MLP </a:t>
            </a:r>
            <a:r>
              <a:rPr lang="pl-PL" dirty="0"/>
              <a:t>osiąga wynik AUC ~0.50. Błędy "spłaszczają" poprawne dane do zera, uniemożliwiając sieci naukę.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Metoda _7_all (Ostatni słupek):</a:t>
            </a:r>
            <a:r>
              <a:rPr lang="pl-PL" dirty="0"/>
              <a:t> Zastosowanie pełnej sekwencji naprawczej przywraca skuteczność MLP do poziomu ponad </a:t>
            </a:r>
            <a:r>
              <a:rPr lang="pl-PL" b="1" dirty="0"/>
              <a:t>0.75 AUC</a:t>
            </a:r>
            <a:r>
              <a:rPr lang="pl-PL" dirty="0"/>
              <a:t>, co jest wynikiem zbliżonym do oryginału (pomarańczowa linia przerywana).</a:t>
            </a:r>
          </a:p>
        </p:txBody>
      </p:sp>
    </p:spTree>
    <p:extLst>
      <p:ext uri="{BB962C8B-B14F-4D97-AF65-F5344CB8AC3E}">
        <p14:creationId xmlns:p14="http://schemas.microsoft.com/office/powerpoint/2010/main" val="126671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F5CAEA-1984-E984-D29C-2E7B7C72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Propozycje Dalszych prac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B6DC95-8ABD-3C6C-3EE6-9005A43A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Analiza dodatkowych zbiorów danych</a:t>
            </a:r>
          </a:p>
          <a:p>
            <a:r>
              <a:rPr lang="pl-PL" dirty="0"/>
              <a:t>Wykorzystanie innych metod normalizacji (np. Z-</a:t>
            </a:r>
            <a:r>
              <a:rPr lang="pl-PL" dirty="0" err="1"/>
              <a:t>score</a:t>
            </a:r>
            <a:r>
              <a:rPr lang="pl-PL" dirty="0"/>
              <a:t>)</a:t>
            </a:r>
          </a:p>
          <a:p>
            <a:r>
              <a:rPr lang="pl-PL" dirty="0"/>
              <a:t>Wykorzystanie innego sposobu imputacji (np. KNN </a:t>
            </a:r>
            <a:r>
              <a:rPr lang="pl-PL" dirty="0" err="1"/>
              <a:t>Imputer</a:t>
            </a:r>
            <a:r>
              <a:rPr lang="pl-PL" dirty="0"/>
              <a:t>)</a:t>
            </a:r>
          </a:p>
          <a:p>
            <a:r>
              <a:rPr lang="pl-PL" dirty="0"/>
              <a:t>Rozpoczęcie pracy nad częścią teoretyczną pracy.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00755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wód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{A24FB450-DA26-4077-B795-3311BB765D64}TF6d5feb1e-e145-43f1-b745-cb4b54c5ee978e692b39-060371e4b547</Template>
  <TotalTime>212</TotalTime>
  <Words>724</Words>
  <Application>Microsoft Office PowerPoint</Application>
  <PresentationFormat>Panoramiczny</PresentationFormat>
  <Paragraphs>54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5" baseType="lpstr">
      <vt:lpstr>Arial</vt:lpstr>
      <vt:lpstr>Tw Cen MT</vt:lpstr>
      <vt:lpstr>Obwód</vt:lpstr>
      <vt:lpstr>Wypływ metod czyszczenia danych na jakość klasyfikatorów </vt:lpstr>
      <vt:lpstr>Cel Pracy</vt:lpstr>
      <vt:lpstr>Wykorzystane zbiory danych</vt:lpstr>
      <vt:lpstr>Symulacja błędów</vt:lpstr>
      <vt:lpstr>Metody Naprawcze</vt:lpstr>
      <vt:lpstr>Przegląd Algorytmów Klasyfikacji</vt:lpstr>
      <vt:lpstr>Wyniki AUC dla Zbioru zapalenia naczyń</vt:lpstr>
      <vt:lpstr>Wyniki AUC dla Zbioru Serce</vt:lpstr>
      <vt:lpstr>Wyniki AUC dla Zbioru Diabetes</vt:lpstr>
      <vt:lpstr>Globalna Stabilność Modeli</vt:lpstr>
      <vt:lpstr>Pozytywny wpływ czyszczenia danych na Sieć neuronową</vt:lpstr>
      <vt:lpstr>Propozycje Dalszych prac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Machnik</dc:creator>
  <cp:lastModifiedBy>Dominik Machnik</cp:lastModifiedBy>
  <cp:revision>2</cp:revision>
  <dcterms:created xsi:type="dcterms:W3CDTF">2026-01-21T19:45:37Z</dcterms:created>
  <dcterms:modified xsi:type="dcterms:W3CDTF">2026-01-21T23:18:18Z</dcterms:modified>
</cp:coreProperties>
</file>